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F49E69-4124-411D-8CFB-8C102DDF4BD1}" v="311" dt="2025-07-10T15:13:09.408"/>
    <p1510:client id="{D4D98E94-5955-45DD-A06C-4774CCE40645}" v="473" dt="2025-07-10T15:31:25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23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41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12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40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3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71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30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36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27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12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80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044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8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7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20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8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74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664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2186581"/>
          </a:xfrm>
        </p:spPr>
        <p:txBody>
          <a:bodyPr/>
          <a:lstStyle/>
          <a:p>
            <a:pPr algn="ctr"/>
            <a:r>
              <a:rPr sz="4400" b="1" err="1"/>
              <a:t>Análise</a:t>
            </a:r>
            <a:r>
              <a:rPr sz="4400" b="1"/>
              <a:t> de </a:t>
            </a:r>
            <a:r>
              <a:rPr sz="4400" b="1" err="1"/>
              <a:t>Tendências</a:t>
            </a:r>
            <a:r>
              <a:rPr sz="4400" b="1"/>
              <a:t> de </a:t>
            </a:r>
            <a:r>
              <a:rPr sz="4400" b="1" err="1"/>
              <a:t>Vídeos</a:t>
            </a:r>
            <a:r>
              <a:rPr sz="4400" b="1"/>
              <a:t> no YouTube (2017–2018)</a:t>
            </a:r>
            <a:endParaRPr lang="en-US" sz="44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3778759"/>
            <a:ext cx="6620968" cy="993768"/>
          </a:xfrm>
        </p:spPr>
        <p:txBody>
          <a:bodyPr/>
          <a:lstStyle/>
          <a:p>
            <a:pPr algn="ctr"/>
            <a:r>
              <a:rPr b="1"/>
              <a:t>Por </a:t>
            </a:r>
            <a:r>
              <a:rPr b="1" err="1"/>
              <a:t>país</a:t>
            </a:r>
            <a:r>
              <a:rPr b="1"/>
              <a:t> e </a:t>
            </a:r>
            <a:r>
              <a:rPr b="1" err="1"/>
              <a:t>categoria</a:t>
            </a:r>
            <a:endParaRPr lang="en-US" b="1" err="1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7">
            <a:extLst>
              <a:ext uri="{FF2B5EF4-FFF2-40B4-BE49-F238E27FC236}">
                <a16:creationId xmlns:a16="http://schemas.microsoft.com/office/drawing/2014/main" id="{32454A55-8D0E-4288-BA8C-0F28467A2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Crescimento de Vídeos em Alta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BF945A-4452-4881-AF25-582DE1943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924298"/>
            <a:ext cx="9144313" cy="29337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7BF02DAB-EEF0-487F-A106-B70843EA6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3772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8" y="2548281"/>
            <a:ext cx="3841954" cy="365868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Gráfico mostrando o crescimento de vídeos de 2017 a 2018</a:t>
            </a:r>
          </a:p>
          <a:p>
            <a:r>
              <a:rPr lang="en-US">
                <a:solidFill>
                  <a:schemeClr val="bg1"/>
                </a:solidFill>
              </a:rPr>
              <a:t>Aumento constante no volume</a:t>
            </a:r>
          </a:p>
          <a:p>
            <a:r>
              <a:rPr lang="en-US">
                <a:solidFill>
                  <a:schemeClr val="bg1"/>
                </a:solidFill>
              </a:rPr>
              <a:t> Indicativo de maior engajamento global com a plataforma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B11C43-5D4F-B575-B3A1-6B96ED59F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337" y="2730934"/>
            <a:ext cx="4485762" cy="2803419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Participação por País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•</a:t>
            </a:r>
            <a:r>
              <a:t> </a:t>
            </a:r>
            <a:r>
              <a:rPr err="1"/>
              <a:t>Destaque</a:t>
            </a:r>
            <a:r>
              <a:t>: EUA, </a:t>
            </a:r>
            <a:r>
              <a:rPr err="1"/>
              <a:t>Índia</a:t>
            </a:r>
            <a:r>
              <a:t>, França</a:t>
            </a:r>
          </a:p>
        </p:txBody>
      </p:sp>
      <p:pic>
        <p:nvPicPr>
          <p:cNvPr id="4" name="Picture 3" descr="A colorful circle with text&#10;&#10;AI-generated content may be incorrect.">
            <a:extLst>
              <a:ext uri="{FF2B5EF4-FFF2-40B4-BE49-F238E27FC236}">
                <a16:creationId xmlns:a16="http://schemas.microsoft.com/office/drawing/2014/main" id="{258711C8-2535-DD53-AB8E-36F85E8D2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825" y="2477503"/>
            <a:ext cx="4706351" cy="37678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3BAF74-ACED-0E32-9753-0693C46B0706}"/>
              </a:ext>
            </a:extLst>
          </p:cNvPr>
          <p:cNvSpPr txBox="1"/>
          <p:nvPr/>
        </p:nvSpPr>
        <p:spPr>
          <a:xfrm>
            <a:off x="3258403" y="3770194"/>
            <a:ext cx="7847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Eua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B2646-3940-5290-35A6-7560F3597855}"/>
              </a:ext>
            </a:extLst>
          </p:cNvPr>
          <p:cNvSpPr txBox="1"/>
          <p:nvPr/>
        </p:nvSpPr>
        <p:spPr>
          <a:xfrm>
            <a:off x="4810836" y="3770194"/>
            <a:ext cx="110888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França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India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500548" cy="823015"/>
          </a:xfrm>
        </p:spPr>
        <p:txBody>
          <a:bodyPr/>
          <a:lstStyle/>
          <a:p>
            <a:r>
              <a:rPr err="1"/>
              <a:t>Categorias</a:t>
            </a:r>
            <a:r>
              <a:t> Mais Populares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270874"/>
            <a:ext cx="6711654" cy="4295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t>• Top 3: </a:t>
            </a:r>
            <a:r>
              <a:rPr lang="en-US" err="1"/>
              <a:t>Entretenimento</a:t>
            </a:r>
            <a:r>
              <a:t>, </a:t>
            </a:r>
            <a:r>
              <a:rPr lang="en-US"/>
              <a:t>Música</a:t>
            </a:r>
            <a:r>
              <a:t>, </a:t>
            </a:r>
            <a:r>
              <a:rPr lang="en-US"/>
              <a:t>Pessoas</a:t>
            </a:r>
            <a:r>
              <a:t> &amp; Blogs</a:t>
            </a:r>
          </a:p>
          <a:p>
            <a:pPr>
              <a:buClr>
                <a:srgbClr val="EF53A5"/>
              </a:buClr>
            </a:pP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BC2D65-F85D-3CF1-CEEC-2946ECE62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9" y="1739566"/>
            <a:ext cx="8273714" cy="49189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/>
              <a:t>Comparativo</a:t>
            </a:r>
            <a:r>
              <a:t> País x </a:t>
            </a:r>
            <a:r>
              <a:rPr err="1"/>
              <a:t>Categoria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601990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>
              <a:buClr>
                <a:srgbClr val="EF53A5"/>
              </a:buClr>
              <a:buFont typeface="Wingdings 3"/>
            </a:pPr>
            <a:r>
              <a:rPr lang="en-US" err="1"/>
              <a:t>Entretenimento</a:t>
            </a:r>
            <a:r>
              <a:rPr lang="en-US"/>
              <a:t> é a </a:t>
            </a:r>
            <a:r>
              <a:rPr lang="en-US" err="1"/>
              <a:t>categoria</a:t>
            </a:r>
            <a:r>
              <a:rPr lang="en-US"/>
              <a:t> </a:t>
            </a:r>
            <a:r>
              <a:rPr lang="en-US" err="1"/>
              <a:t>dominante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regiões</a:t>
            </a:r>
            <a:endParaRPr lang="en-US"/>
          </a:p>
          <a:p>
            <a:pPr>
              <a:buClr>
                <a:srgbClr val="EF53A5"/>
              </a:buClr>
              <a:buFont typeface="Wingdings 3"/>
            </a:pPr>
            <a:r>
              <a:rPr lang="en-US"/>
              <a:t>Pessoas e </a:t>
            </a:r>
            <a:r>
              <a:rPr lang="en-US" err="1"/>
              <a:t>Músicas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as </a:t>
            </a:r>
            <a:r>
              <a:rPr lang="en-US" err="1"/>
              <a:t>categorias</a:t>
            </a:r>
            <a:r>
              <a:rPr lang="en-US"/>
              <a:t> que </a:t>
            </a:r>
            <a:r>
              <a:rPr lang="en-US" err="1"/>
              <a:t>completam</a:t>
            </a:r>
            <a:r>
              <a:rPr lang="en-US"/>
              <a:t> o top 3</a:t>
            </a:r>
          </a:p>
          <a:p>
            <a:pPr>
              <a:buClr>
                <a:srgbClr val="EF53A5"/>
              </a:buClr>
              <a:buFont typeface="Wingdings 3"/>
            </a:pPr>
            <a:r>
              <a:rPr lang="en-US"/>
              <a:t>França = </a:t>
            </a:r>
            <a:r>
              <a:rPr lang="en-US" err="1">
                <a:ea typeface="+mj-lt"/>
                <a:cs typeface="+mj-lt"/>
              </a:rPr>
              <a:t>Notícias</a:t>
            </a:r>
            <a:r>
              <a:rPr lang="en-US">
                <a:ea typeface="+mj-lt"/>
                <a:cs typeface="+mj-lt"/>
              </a:rPr>
              <a:t> e Política</a:t>
            </a:r>
            <a:endParaRPr lang="en-US">
              <a:solidFill>
                <a:srgbClr val="000000"/>
              </a:solidFill>
              <a:ea typeface="+mj-lt"/>
              <a:cs typeface="+mj-lt"/>
            </a:endParaRPr>
          </a:p>
          <a:p>
            <a:pPr>
              <a:buClr>
                <a:srgbClr val="EF53A5"/>
              </a:buClr>
              <a:buFont typeface="Wingdings 3"/>
            </a:pPr>
            <a:r>
              <a:rPr lang="en-US"/>
              <a:t>EUA = </a:t>
            </a:r>
            <a:r>
              <a:rPr lang="en-US" err="1"/>
              <a:t>Entretenimento</a:t>
            </a:r>
            <a:r>
              <a:rPr lang="en-US"/>
              <a:t>, Música e  Estilo de </a:t>
            </a:r>
            <a:r>
              <a:rPr lang="en-US" err="1"/>
              <a:t>vida</a:t>
            </a:r>
            <a:endParaRPr lang="en-US"/>
          </a:p>
          <a:p>
            <a:pPr>
              <a:buClr>
                <a:srgbClr val="EF53A5"/>
              </a:buClr>
            </a:pPr>
            <a:r>
              <a:rPr err="1"/>
              <a:t>Índia</a:t>
            </a:r>
            <a:r>
              <a:t> = </a:t>
            </a:r>
            <a:r>
              <a:rPr lang="en-US"/>
              <a:t> Música, Política </a:t>
            </a:r>
            <a:r>
              <a:t>e </a:t>
            </a:r>
            <a:r>
              <a:rPr err="1"/>
              <a:t>Entretenimento</a:t>
            </a:r>
            <a:endParaRPr lang="en-US" err="1"/>
          </a:p>
          <a:p>
            <a:pPr marL="0" indent="0">
              <a:buClr>
                <a:srgbClr val="EF53A5"/>
              </a:buClr>
              <a:buNone/>
            </a:pPr>
            <a:endParaRPr/>
          </a:p>
          <a:p>
            <a:pPr>
              <a:buClr>
                <a:srgbClr val="EF53A5"/>
              </a:buClr>
            </a:pPr>
            <a:endParaRPr lang="en-US"/>
          </a:p>
          <a:p>
            <a:pPr>
              <a:buClr>
                <a:srgbClr val="EF53A5"/>
              </a:buClr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433548" cy="37503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b="1" i="1"/>
              <a:t> </a:t>
            </a:r>
            <a:r>
              <a:rPr b="1" i="1" err="1"/>
              <a:t>Expansão</a:t>
            </a:r>
            <a:r>
              <a:rPr b="1" i="1"/>
              <a:t> da </a:t>
            </a:r>
            <a:r>
              <a:rPr b="1" i="1" err="1"/>
              <a:t>plataforma</a:t>
            </a:r>
            <a:r>
              <a:rPr b="1" i="1"/>
              <a:t> </a:t>
            </a:r>
            <a:r>
              <a:rPr b="1" i="1" err="1"/>
              <a:t>globalmente</a:t>
            </a:r>
            <a:endParaRPr lang="en-US" b="1" i="1"/>
          </a:p>
          <a:p>
            <a:r>
              <a:rPr b="1" i="1" err="1"/>
              <a:t>Adoção</a:t>
            </a:r>
            <a:r>
              <a:rPr b="1" i="1"/>
              <a:t> </a:t>
            </a:r>
            <a:r>
              <a:rPr b="1" i="1" err="1"/>
              <a:t>crescente</a:t>
            </a:r>
            <a:r>
              <a:rPr b="1" i="1"/>
              <a:t> </a:t>
            </a:r>
            <a:r>
              <a:rPr b="1" i="1" err="1"/>
              <a:t>em</a:t>
            </a:r>
            <a:r>
              <a:rPr b="1" i="1"/>
              <a:t> </a:t>
            </a:r>
            <a:r>
              <a:rPr b="1" i="1" err="1"/>
              <a:t>países</a:t>
            </a:r>
            <a:r>
              <a:rPr b="1" i="1"/>
              <a:t> </a:t>
            </a:r>
            <a:r>
              <a:rPr b="1" i="1" err="1"/>
              <a:t>emergentes</a:t>
            </a:r>
            <a:r>
              <a:rPr lang="en-US" b="1" i="1"/>
              <a:t> para </a:t>
            </a:r>
            <a:r>
              <a:rPr lang="en-US" b="1" i="1" err="1"/>
              <a:t>aumentar</a:t>
            </a:r>
            <a:r>
              <a:rPr lang="en-US" b="1" i="1"/>
              <a:t> o </a:t>
            </a:r>
            <a:r>
              <a:rPr lang="en-US" b="1" i="1" err="1"/>
              <a:t>número</a:t>
            </a:r>
            <a:r>
              <a:rPr lang="en-US" b="1" i="1"/>
              <a:t> de </a:t>
            </a:r>
            <a:r>
              <a:rPr lang="en-US" b="1" i="1" err="1"/>
              <a:t>visualizacões</a:t>
            </a:r>
            <a:endParaRPr b="1" i="1"/>
          </a:p>
          <a:p>
            <a:r>
              <a:rPr b="1" i="1" err="1"/>
              <a:t>Predominância</a:t>
            </a:r>
            <a:r>
              <a:rPr b="1" i="1"/>
              <a:t> de </a:t>
            </a:r>
            <a:r>
              <a:rPr b="1" i="1" err="1"/>
              <a:t>categorias</a:t>
            </a:r>
            <a:r>
              <a:rPr b="1" i="1"/>
              <a:t> de </a:t>
            </a:r>
            <a:r>
              <a:rPr lang="en-US" b="1" i="1" err="1"/>
              <a:t>lazer</a:t>
            </a:r>
            <a:r>
              <a:rPr lang="en-US" b="1" i="1"/>
              <a:t> e </a:t>
            </a:r>
            <a:r>
              <a:rPr lang="en-US" b="1" i="1" err="1"/>
              <a:t>entretenimento</a:t>
            </a:r>
            <a:endParaRPr lang="en-US" b="1" i="1"/>
          </a:p>
          <a:p>
            <a:pPr>
              <a:buClr>
                <a:srgbClr val="EF53A5"/>
              </a:buClr>
            </a:pPr>
            <a:r>
              <a:rPr lang="en-US" b="1" i="1"/>
              <a:t>Estilo de </a:t>
            </a:r>
            <a:r>
              <a:rPr lang="en-US" b="1" i="1" err="1"/>
              <a:t>vida</a:t>
            </a:r>
            <a:r>
              <a:rPr lang="en-US" b="1" i="1"/>
              <a:t> é </a:t>
            </a:r>
            <a:r>
              <a:rPr lang="en-US" b="1" i="1" err="1"/>
              <a:t>uma</a:t>
            </a:r>
            <a:r>
              <a:rPr lang="en-US" b="1" i="1"/>
              <a:t> </a:t>
            </a:r>
            <a:r>
              <a:rPr lang="en-US" b="1" i="1" err="1"/>
              <a:t>categoria</a:t>
            </a:r>
            <a:r>
              <a:rPr lang="en-US" b="1" i="1"/>
              <a:t> </a:t>
            </a:r>
            <a:r>
              <a:rPr lang="en-US" b="1" i="1" err="1"/>
              <a:t>mais</a:t>
            </a:r>
            <a:r>
              <a:rPr lang="en-US" b="1" i="1"/>
              <a:t> </a:t>
            </a:r>
            <a:r>
              <a:rPr lang="en-US" b="1" i="1" err="1"/>
              <a:t>atraente</a:t>
            </a:r>
            <a:r>
              <a:rPr lang="en-US" b="1" i="1"/>
              <a:t> para o mercado americano do que </a:t>
            </a:r>
            <a:r>
              <a:rPr lang="en-US" b="1" i="1" err="1"/>
              <a:t>aos</a:t>
            </a:r>
            <a:r>
              <a:rPr lang="en-US" b="1" i="1"/>
              <a:t> </a:t>
            </a:r>
            <a:r>
              <a:rPr lang="en-US" b="1" i="1" err="1"/>
              <a:t>demais</a:t>
            </a:r>
            <a:r>
              <a:rPr lang="en-US" b="1" i="1"/>
              <a:t> </a:t>
            </a:r>
            <a:r>
              <a:rPr lang="en-US" b="1" i="1" err="1"/>
              <a:t>países</a:t>
            </a:r>
            <a:endParaRPr lang="en-US" b="1" i="1"/>
          </a:p>
          <a:p>
            <a:pPr>
              <a:buClr>
                <a:srgbClr val="EF53A5"/>
              </a:buClr>
            </a:pPr>
            <a:endParaRPr lang="en-US" b="1" i="1"/>
          </a:p>
          <a:p>
            <a:pPr>
              <a:buClr>
                <a:srgbClr val="EF53A5"/>
              </a:buClr>
            </a:pPr>
            <a:endParaRPr lang="en-US"/>
          </a:p>
          <a:p>
            <a:pPr>
              <a:buClr>
                <a:srgbClr val="EF53A5"/>
              </a:buClr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Ion</vt:lpstr>
      <vt:lpstr>Análise de Tendências de Vídeos no YouTube (2017–2018)</vt:lpstr>
      <vt:lpstr>Crescimento de Vídeos em Alta</vt:lpstr>
      <vt:lpstr>Participação por País</vt:lpstr>
      <vt:lpstr>Categorias Mais Populares</vt:lpstr>
      <vt:lpstr>Comparativo País x Categoria  </vt:lpstr>
      <vt:lpstr>Conclusões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2025-07-10T15:32:59Z</dcterms:modified>
  <cp:category/>
</cp:coreProperties>
</file>